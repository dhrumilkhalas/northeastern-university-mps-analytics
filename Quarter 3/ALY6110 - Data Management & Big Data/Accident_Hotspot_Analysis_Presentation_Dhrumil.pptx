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32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475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&amp; BIG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" y="804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92608" y="1234440"/>
            <a:ext cx="2852928" cy="822960"/>
          </a:xfrm>
          <a:prstGeom prst="roundRect">
            <a:avLst>
              <a:gd name="adj" fmla="val 8889"/>
            </a:avLst>
          </a:prstGeom>
          <a:solidFill>
            <a:srgbClr val="243F60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28016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48,176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" y="1709928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" y="2240280"/>
            <a:ext cx="2852928" cy="822960"/>
          </a:xfrm>
          <a:prstGeom prst="roundRect">
            <a:avLst>
              <a:gd name="adj" fmla="val 8889"/>
            </a:avLst>
          </a:prstGeom>
          <a:solidFill>
            <a:srgbClr val="243F60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28600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Yrs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" y="2715768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2012 - 2018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3246120"/>
            <a:ext cx="2852928" cy="822960"/>
          </a:xfrm>
          <a:prstGeom prst="roundRect">
            <a:avLst>
              <a:gd name="adj" fmla="val 8889"/>
            </a:avLst>
          </a:prstGeom>
          <a:solidFill>
            <a:srgbClr val="243F60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329184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" y="3721608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4773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A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0" y="34747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749040" y="96926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 ANALYSIS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3749040" y="1700784"/>
            <a:ext cx="5029200" cy="2286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8105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Interstate I-94  ·  Minneapolis–Saint Paul, MN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103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Westbound I-94 · ATR Station 301 · October 2012 - September 2018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49040" y="2487168"/>
            <a:ext cx="5120640" cy="420624"/>
          </a:xfrm>
          <a:prstGeom prst="roundRect">
            <a:avLst>
              <a:gd name="adj" fmla="val 19565"/>
            </a:avLst>
          </a:prstGeom>
          <a:solidFill>
            <a:srgbClr val="FDEAEA"/>
          </a:solidFill>
          <a:ln w="12700">
            <a:solidFill>
              <a:srgbClr val="F0BD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48716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Hotspot: Any hour ≥ 4,933 vehicles (75th percentile) = HIGH RISK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3017520"/>
            <a:ext cx="5120640" cy="621792"/>
          </a:xfrm>
          <a:prstGeom prst="roundRect">
            <a:avLst>
              <a:gd name="adj" fmla="val 13235"/>
            </a:avLst>
          </a:prstGeom>
          <a:solidFill>
            <a:srgbClr val="EBF3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3017520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I-94 carries some of the highest traffic in the Upper Midwest. </a:t>
            </a:r>
            <a:r>
              <a:rPr lang="en-US" sz="10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identifies WHEN and UNDER WHAT CONDITIONS traffic becomes dangerously high.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3785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490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Dhrumil Shaileshkumar Khalas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43159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2897534"/>
            <a:ext cx="4466556" cy="1800000"/>
          </a:xfrm>
          <a:prstGeom prst="rect">
            <a:avLst/>
          </a:prstGeom>
        </p:spPr>
      </p:pic>
      <p:pic>
        <p:nvPicPr>
          <p:cNvPr id="2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83555" y="73152"/>
            <a:ext cx="7183254" cy="2520000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99432" y="2900225"/>
            <a:ext cx="4480138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412" y="225639"/>
            <a:ext cx="4394326" cy="2346111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5263" y="225640"/>
            <a:ext cx="4394326" cy="2346110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412" y="2757860"/>
            <a:ext cx="4394325" cy="2160000"/>
          </a:xfrm>
          <a:prstGeom prst="rect">
            <a:avLst/>
          </a:prstGeom>
        </p:spPr>
      </p:pic>
      <p:pic>
        <p:nvPicPr>
          <p:cNvPr id="5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5263" y="2757860"/>
            <a:ext cx="4394326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266521"/>
            <a:ext cx="4428712" cy="21600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266521"/>
            <a:ext cx="4420694" cy="2160000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7156" y="2716979"/>
            <a:ext cx="4434840" cy="2160000"/>
          </a:xfrm>
          <a:prstGeom prst="rect">
            <a:avLst/>
          </a:prstGeom>
        </p:spPr>
      </p:pic>
      <p:pic>
        <p:nvPicPr>
          <p:cNvPr id="5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65872" y="2716979"/>
            <a:ext cx="4420694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7737" y="127339"/>
            <a:ext cx="6808526" cy="27000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560" y="2953257"/>
            <a:ext cx="4572000" cy="1980000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5856" y="2953257"/>
            <a:ext cx="4067208" cy="19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&amp; KEY FINDINGS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786384"/>
            <a:ext cx="1609344" cy="192024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59536"/>
            <a:ext cx="1389888" cy="310896"/>
          </a:xfrm>
          <a:prstGeom prst="roundRect">
            <a:avLst>
              <a:gd name="adj" fmla="val 20588"/>
            </a:avLst>
          </a:prstGeom>
          <a:solidFill>
            <a:srgbClr val="FDEAEA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95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" y="1234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36,616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17739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Significant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786384"/>
            <a:ext cx="1609344" cy="192024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859536"/>
            <a:ext cx="1389888" cy="310896"/>
          </a:xfrm>
          <a:prstGeom prst="roundRect">
            <a:avLst>
              <a:gd name="adj" fmla="val 20588"/>
            </a:avLst>
          </a:prstGeom>
          <a:solidFill>
            <a:srgbClr val="EBF3FB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8595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66544" y="1234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66544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2,782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66544" y="17739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66544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Significant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30752" y="786384"/>
            <a:ext cx="1609344" cy="192024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859536"/>
            <a:ext cx="1389888" cy="310896"/>
          </a:xfrm>
          <a:prstGeom prst="roundRect">
            <a:avLst>
              <a:gd name="adj" fmla="val 20588"/>
            </a:avLst>
          </a:prstGeom>
          <a:solidFill>
            <a:srgbClr val="E6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8595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03904" y="1234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03904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888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03904" y="17739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03904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Significant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68112" y="786384"/>
            <a:ext cx="1609344" cy="192024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859536"/>
            <a:ext cx="1389888" cy="310896"/>
          </a:xfrm>
          <a:prstGeom prst="roundRect">
            <a:avLst>
              <a:gd name="adj" fmla="val 20588"/>
            </a:avLst>
          </a:prstGeom>
          <a:solidFill>
            <a:srgbClr val="F0ECFB"/>
          </a:solidFill>
          <a:ln w="12700">
            <a:solidFill>
              <a:srgbClr val="6D5C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8595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41264" y="1234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41264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304M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41264" y="17739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41264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Significant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05472" y="786384"/>
            <a:ext cx="1609344" cy="192024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859536"/>
            <a:ext cx="1389888" cy="310896"/>
          </a:xfrm>
          <a:prstGeom prst="roundRect">
            <a:avLst>
              <a:gd name="adj" fmla="val 20588"/>
            </a:avLst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8595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vs Non-Holiday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278624" y="1234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278624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561K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78624" y="17739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78624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Significant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2889504"/>
            <a:ext cx="160934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6032" y="295351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PM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10896" y="34107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Danger Hour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10896" y="368503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hotspot rate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93392" y="2889504"/>
            <a:ext cx="160934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993392" y="295351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Friday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048256" y="34107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Riskiest Day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048256" y="368503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hotspot rate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30752" y="2889504"/>
            <a:ext cx="160934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30752" y="295351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785616" y="34107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Riskiest Month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785616" y="368503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28.4% hotspot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68112" y="2889504"/>
            <a:ext cx="160934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468112" y="295351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r=0.35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522976" y="34107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522976" y="368503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05472" y="2889504"/>
            <a:ext cx="160934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205472" y="295351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865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260336" y="34107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Traffic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260336" y="368503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3,263 non-hol.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4645152"/>
            <a:ext cx="8631936" cy="274320"/>
          </a:xfrm>
          <a:prstGeom prst="roundRect">
            <a:avLst>
              <a:gd name="adj" fmla="val 20000"/>
            </a:avLst>
          </a:prstGeom>
          <a:solidFill>
            <a:srgbClr val="EBF3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" y="464515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tests: p &lt; 0.05  ·  Findings statistically reliable across 48,176 hourly records (2012-2018)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420624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905256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FDEAEA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90525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2336" y="124358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PM is the #1 Danger Hour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572768"/>
            <a:ext cx="3913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hotspot rate of 70% at 4 PM (avg 5,664 vehicles). Morning rush reaches 65% at 7 AM. Safe window exists between 9-11 AM. Hour of day is the strongest predictor (r = 0.352).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18304" y="768096"/>
            <a:ext cx="420624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905256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EBF3FB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90525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64608" y="124358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Builds Through the Week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572768"/>
            <a:ext cx="3913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carries the highest risk (39% hotspot). Risk progressively builds Mon→Fri (25%→39%). Weekends are nearly safe: Saturday 5.4%, Sunday just 0.9%. Weekday avg 3,533 vs weekend 2,572 vehicles.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852928"/>
            <a:ext cx="420624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" y="2990088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E6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990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WEATHER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2336" y="332841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Peaks, Winter Drops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" y="3657600"/>
            <a:ext cx="3913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= highest risk month (28.4%). January = lowest (18.8%). Cloudy and drizzly days are MORE dangerous than clear days (29.2% vs 22.3%). Heavy snow actually reduces traffic volume.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18304" y="2852928"/>
            <a:ext cx="420624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27000" dist="25400" dir="2700000" algn="bl" rotWithShape="0">
              <a:srgbClr val="1C3557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990088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90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64608" y="332841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Operational Actions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3657600"/>
            <a:ext cx="3913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patrols Tue-Fri, 6-9 AM &amp; 3-6 PM. Schedule road maintenance between 9-11 AM or Saturday mornings. Pre-activate variable speed signs at 5:45 AM and 1:45 PM on weekdays.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800600"/>
            <a:ext cx="8631936" cy="274320"/>
          </a:xfrm>
          <a:prstGeom prst="roundRect">
            <a:avLst>
              <a:gd name="adj" fmla="val 20000"/>
            </a:avLst>
          </a:prstGeom>
          <a:solidFill>
            <a:srgbClr val="EBF3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80060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statistical tests confirmed: p &lt; 0.05  ·  6 years of stable patterns, reliable for long-term city planning decisions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433</Words>
  <Application>Microsoft Office PowerPoint</Application>
  <PresentationFormat>On-screen Show (16:9)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Dhrumil Khalas</cp:lastModifiedBy>
  <cp:revision>6</cp:revision>
  <dcterms:created xsi:type="dcterms:W3CDTF">2026-06-17T19:58:59Z</dcterms:created>
  <dcterms:modified xsi:type="dcterms:W3CDTF">2026-06-17T23:31:11Z</dcterms:modified>
</cp:coreProperties>
</file>