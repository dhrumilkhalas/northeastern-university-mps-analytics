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2" r:id="rId5"/>
  </p:sldMasterIdLst>
  <p:notesMasterIdLst>
    <p:notesMasterId r:id="rId20"/>
  </p:notesMasterIdLst>
  <p:sldIdLst>
    <p:sldId id="276" r:id="rId6"/>
    <p:sldId id="331" r:id="rId7"/>
    <p:sldId id="318" r:id="rId8"/>
    <p:sldId id="330" r:id="rId9"/>
    <p:sldId id="341" r:id="rId10"/>
    <p:sldId id="328" r:id="rId11"/>
    <p:sldId id="342" r:id="rId12"/>
    <p:sldId id="338" r:id="rId13"/>
    <p:sldId id="345" r:id="rId14"/>
    <p:sldId id="346" r:id="rId15"/>
    <p:sldId id="347" r:id="rId16"/>
    <p:sldId id="348" r:id="rId17"/>
    <p:sldId id="337" r:id="rId18"/>
    <p:sldId id="29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1B2C"/>
    <a:srgbClr val="2596BE"/>
    <a:srgbClr val="2CBBAB"/>
    <a:srgbClr val="BADB00"/>
    <a:srgbClr val="E1192B"/>
    <a:srgbClr val="E11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52"/>
    <p:restoredTop sz="90527"/>
  </p:normalViewPr>
  <p:slideViewPr>
    <p:cSldViewPr snapToGrid="0">
      <p:cViewPr varScale="1">
        <p:scale>
          <a:sx n="77" d="100"/>
          <a:sy n="77" d="100"/>
        </p:scale>
        <p:origin x="14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0B893-2D33-C143-95DB-B9BF721B1FC5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03E4E-4774-E944-990E-761C02510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15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FDA7-6400-131C-E702-7E5AC68E1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EC6B9-B9D9-E309-BA6F-203670201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4CE4F-E6C5-B014-0306-6E18B1529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A7604-5951-0D01-40DA-5E524D3F0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63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6655-B7B3-E478-8A3C-85E6E6122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91A4-CF7D-B9FB-6FE2-4C82807F0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9EBC1-BB30-347A-9971-459014B28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2AD67-AF8F-40F2-53B4-5A5A6DB59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66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01586-DAE5-1C59-7E3F-CE0304C4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4A2A3-0246-41EE-DE26-6C90FDA58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8C553-17BB-B8C8-128C-AEEBFC19D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68DE3-5A14-D3C2-A379-05E9C9C85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46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AB21-9905-94D7-49EA-D9D3AE4F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FF344-DEFD-827F-7390-DCB2F8795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FA9CE-80B8-7E65-97B3-A60171D81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E96F2-C078-DAF1-438E-649BCA858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45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8A4DA-D491-30C9-8C2B-0D56B6961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B4E126-99C2-5AFE-696F-58B126EB2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374B8-4AE5-D26A-359E-87B0ADA1B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AD383-DC83-2299-9E2C-3F9BE8FB6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64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A6ED-DDBC-43F5-8192-CE3FC785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3A037-2D0F-37AA-C27A-FAD61438E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D798A-8406-0790-BDBE-BF7FEE951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06824-CBF0-2A68-F87E-3C49DDBFD8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791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5219-9281-E31A-5A11-FE77EB2F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1269A-693F-E482-9DC6-758819ADA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91D12-34A7-4845-5425-1A01B01C7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D353C-7241-A600-BB9E-99F1C125B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90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0E7D-7FB3-C21B-B9E3-F541A5DC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B40B1-3132-AD89-91E5-2E61E01C1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DCAE96-C9F5-5E70-D6A3-0A0499634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2415B-91D3-C6F2-962D-84E24B116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14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11266-3D27-E7E0-43A6-4312A78BB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BDB29-48C8-B797-60A7-B963CC678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6A765-497E-CDF7-430A-C69E667D4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B4FE3-15C6-E88D-3EE2-BC248DC84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13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656E0-66AB-640C-134E-63DD98E02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2F4AD-79CF-48DA-DFDA-15B1AE039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0FF89-7BDB-7864-389F-82F24EF84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84AA7-DA48-1FF6-8D10-FC4D6D537D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95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F5D3-5AB7-E33A-6574-35E1B5F0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F767A-E6F0-7EA9-57D6-64A417BCE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423A3-6C4F-ECA4-A0D0-248BAA18D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E52C1-B25A-FB93-9F72-A36456777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5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1D44F-8E9B-BD58-C9C0-AE40F6A5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3B549-4B8E-916B-E737-5E3A5E144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642EE-F1C1-131C-C757-DA05BF257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EB0AA-A173-DB25-05F7-CA38A94EC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03E4E-4774-E944-990E-761C025100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9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73530" y="1122363"/>
            <a:ext cx="4572605" cy="2038526"/>
          </a:xfrm>
        </p:spPr>
        <p:txBody>
          <a:bodyPr anchor="b"/>
          <a:lstStyle>
            <a:lvl1pPr algn="l">
              <a:defRPr sz="45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473530" y="3376260"/>
            <a:ext cx="4572605" cy="1655762"/>
          </a:xfrm>
        </p:spPr>
        <p:txBody>
          <a:bodyPr/>
          <a:lstStyle>
            <a:lvl1pPr marL="0" indent="0" algn="l">
              <a:buNone/>
              <a:defRPr sz="1800">
                <a:latin typeface="Real Text Pro" charset="0"/>
                <a:ea typeface="Real Text Pro" charset="0"/>
                <a:cs typeface="Real Text Pro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98085-2EE2-AD4D-979F-7FAC1D67A4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2458" y="2620098"/>
            <a:ext cx="5306399" cy="530639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4368442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436844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59987">
            <a:off x="5122190" y="759417"/>
            <a:ext cx="6792697" cy="6792697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7750B4-13D5-8748-8A18-B4E437443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530" y="1122363"/>
            <a:ext cx="4572605" cy="2038526"/>
          </a:xfrm>
        </p:spPr>
        <p:txBody>
          <a:bodyPr anchor="b"/>
          <a:lstStyle>
            <a:lvl1pPr algn="l">
              <a:defRPr sz="45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4864F8C-F28E-504F-B46A-735D4C290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530" y="3376260"/>
            <a:ext cx="4572605" cy="1655762"/>
          </a:xfrm>
        </p:spPr>
        <p:txBody>
          <a:bodyPr/>
          <a:lstStyle>
            <a:lvl1pPr marL="0" indent="0" algn="l">
              <a:buNone/>
              <a:defRPr sz="1800">
                <a:latin typeface="Real Text Pro" charset="0"/>
                <a:ea typeface="Real Text Pro" charset="0"/>
                <a:cs typeface="Real Text Pro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8B1540-9DC8-294D-8DF5-5549346455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2458" y="2620098"/>
            <a:ext cx="5306399" cy="5306399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4368442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436844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B7C12-224B-9843-9799-95D3E146A7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59987">
            <a:off x="5122190" y="759417"/>
            <a:ext cx="6792697" cy="67926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7869F9-CB14-FF4B-ADA3-C32AF9509A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2458" y="2620098"/>
            <a:ext cx="5306399" cy="530639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8F1ADF2-471F-804F-B824-F355EF386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530" y="1122363"/>
            <a:ext cx="4572605" cy="2038526"/>
          </a:xfrm>
        </p:spPr>
        <p:txBody>
          <a:bodyPr anchor="b"/>
          <a:lstStyle>
            <a:lvl1pPr algn="l">
              <a:defRPr sz="45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62A6352-8F3D-3F47-BB9A-090835D14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530" y="3376260"/>
            <a:ext cx="4572605" cy="1655762"/>
          </a:xfrm>
        </p:spPr>
        <p:txBody>
          <a:bodyPr/>
          <a:lstStyle>
            <a:lvl1pPr marL="0" indent="0" algn="l">
              <a:buNone/>
              <a:defRPr sz="1800">
                <a:latin typeface="Real Text Pro" charset="0"/>
                <a:ea typeface="Real Text Pro" charset="0"/>
                <a:cs typeface="Real Text Pro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02004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Section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28650" y="4515556"/>
            <a:ext cx="737235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50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2001"/>
            <a:ext cx="78867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28651" y="1332089"/>
            <a:ext cx="7357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02420"/>
            <a:ext cx="78867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965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692001"/>
            <a:ext cx="78867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8651" y="1332089"/>
            <a:ext cx="7357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28650" y="302420"/>
            <a:ext cx="78867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627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09280B-D128-864B-9C52-19F8B46177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1996" y="1825625"/>
            <a:ext cx="38862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62F962-0F91-2448-A9F0-51E5D18AB7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49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825625"/>
            <a:ext cx="38862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651" y="6397398"/>
            <a:ext cx="2016578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E709B8-A0AE-004B-9F0F-52800B7F77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0"/>
          </p:nvPr>
        </p:nvSpPr>
        <p:spPr>
          <a:xfrm>
            <a:off x="4901997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61307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3CA5FC-0784-374A-A438-CC75C2852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651" y="6397398"/>
            <a:ext cx="2016578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461307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sz="half" idx="10"/>
          </p:nvPr>
        </p:nvSpPr>
        <p:spPr>
          <a:xfrm>
            <a:off x="491490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04790B-251E-E94E-9716-1C21DE2D39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731079" y="0"/>
            <a:ext cx="5412922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/>
            </a:lvl2pPr>
            <a:lvl3pPr marL="814370" indent="-128588">
              <a:buFont typeface="Arial" panose="020B0604020202020204" pitchFamily="34" charset="0"/>
              <a:buChar char="•"/>
              <a:defRPr sz="900"/>
            </a:lvl3pPr>
            <a:lvl4pPr marL="1157262" indent="-128588">
              <a:buFont typeface="Arial" panose="020B0604020202020204" pitchFamily="34" charset="0"/>
              <a:buChar char="•"/>
              <a:defRPr sz="750"/>
            </a:lvl4pPr>
            <a:lvl5pPr marL="1500153" indent="-128588">
              <a:buFont typeface="Arial" panose="020B0604020202020204" pitchFamily="34" charset="0"/>
              <a:buChar char="•"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457200"/>
            <a:ext cx="2949178" cy="1379768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Here – Image on Black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28651" y="1841630"/>
            <a:ext cx="295036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DCC06A-3F72-4A46-B666-4BC6A0CBBE0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82666" y="1262591"/>
            <a:ext cx="4637484" cy="3965575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CF6735-FB42-6D4B-891F-8FE163B8E4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3826934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2pPr>
            <a:lvl3pPr marL="814370" indent="-128588"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457200"/>
            <a:ext cx="2949178" cy="1379768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Here – Image on White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28651" y="1841630"/>
            <a:ext cx="295036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2D8BB13-04C6-4244-BF0F-D230697E61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82666" y="1262591"/>
            <a:ext cx="4637484" cy="3965575"/>
          </a:xfrm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FA0271-6E50-B549-AA24-A5CC14CDDC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0"/>
            <a:ext cx="372291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16508" y="558800"/>
            <a:ext cx="4941226" cy="1379768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– Full Bleed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16508" y="2159000"/>
            <a:ext cx="4941226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2pPr>
            <a:lvl3pPr marL="814370" indent="-128588"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015317" y="1917531"/>
            <a:ext cx="4942417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42540C-E1DF-4747-A482-F000E036E3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82480" y="-44532"/>
            <a:ext cx="3920200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06FA15-89B6-5D4F-A8D7-2603D67C8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742267" y="-1"/>
            <a:ext cx="5401733" cy="69025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16508" y="558800"/>
            <a:ext cx="4941226" cy="1379768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– Full Bleed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16508" y="2159000"/>
            <a:ext cx="4941226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2pPr>
            <a:lvl3pPr marL="814370" indent="-128588"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015317" y="1917531"/>
            <a:ext cx="4942417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42540C-E1DF-4747-A482-F000E036E3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77933" y="-44532"/>
            <a:ext cx="3920200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	</a:t>
            </a:r>
          </a:p>
          <a:p>
            <a:r>
              <a:rPr lang="en-US"/>
              <a:t>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5F8ED9-F9BE-3D4D-8FEF-1925E90005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22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628651" y="1332089"/>
            <a:ext cx="7324928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– Chart Example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C436304-74C6-2A49-A8C4-DA04D212BCAE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28650" y="1843088"/>
            <a:ext cx="7886700" cy="4248150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A9EC60-D823-D742-81DE-E68CA18402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518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628651" y="1332089"/>
            <a:ext cx="7324928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– SmartArt Example</a:t>
            </a:r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12773BB6-5B99-1C4F-8F4B-472D3A76FEE3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28650" y="1690688"/>
            <a:ext cx="7886700" cy="4665662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D4DAA8-BFD5-C241-A709-60F46D80D8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012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628651" y="1332089"/>
            <a:ext cx="7324928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– Table Example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836C344-5A38-7644-96BD-E1AA1C7958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28650" y="1690689"/>
            <a:ext cx="7886700" cy="4410075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2D53E0-5B60-284F-88F9-472A39F798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38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7318" y="1206500"/>
            <a:ext cx="4379259" cy="1524000"/>
          </a:xfrm>
        </p:spPr>
        <p:txBody>
          <a:bodyPr>
            <a:normAutofit/>
          </a:bodyPr>
          <a:lstStyle>
            <a:lvl1pPr algn="ctr">
              <a:defRPr sz="45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885951" y="2997200"/>
            <a:ext cx="5527832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9272" y="2997200"/>
            <a:ext cx="3461189" cy="34611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507318" y="1206500"/>
            <a:ext cx="4379259" cy="1524000"/>
          </a:xfrm>
        </p:spPr>
        <p:txBody>
          <a:bodyPr>
            <a:normAutofit/>
          </a:bodyPr>
          <a:lstStyle>
            <a:lvl1pPr algn="ctr">
              <a:defRPr sz="45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885951" y="2997200"/>
            <a:ext cx="5527832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783F7B1-6600-3E47-AFA1-19A9EDC8E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9272" y="2997200"/>
            <a:ext cx="3461189" cy="3461189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1BC4EC-66E9-EF4E-BD10-CFBEF5959E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9185" y="2883651"/>
            <a:ext cx="4977972" cy="497797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42E596F-9537-7743-A110-F58B152B97EC}"/>
              </a:ext>
            </a:extLst>
          </p:cNvPr>
          <p:cNvSpPr txBox="1">
            <a:spLocks/>
          </p:cNvSpPr>
          <p:nvPr userDrawn="1"/>
        </p:nvSpPr>
        <p:spPr>
          <a:xfrm>
            <a:off x="625930" y="1274763"/>
            <a:ext cx="4572605" cy="20385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9442FAB-D8A5-A742-8020-B2F5FED2B3AF}"/>
              </a:ext>
            </a:extLst>
          </p:cNvPr>
          <p:cNvSpPr txBox="1">
            <a:spLocks/>
          </p:cNvSpPr>
          <p:nvPr userDrawn="1"/>
        </p:nvSpPr>
        <p:spPr>
          <a:xfrm>
            <a:off x="625930" y="3528660"/>
            <a:ext cx="457260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34289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001017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4368442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436844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9C388-3366-0F4F-BEE2-71111AAC9B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59987">
            <a:off x="5122190" y="759417"/>
            <a:ext cx="6792697" cy="679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10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93DE65F-1A21-424C-8053-CF276E5A9052}"/>
              </a:ext>
            </a:extLst>
          </p:cNvPr>
          <p:cNvSpPr txBox="1">
            <a:spLocks/>
          </p:cNvSpPr>
          <p:nvPr userDrawn="1"/>
        </p:nvSpPr>
        <p:spPr>
          <a:xfrm>
            <a:off x="625930" y="1274763"/>
            <a:ext cx="4572605" cy="20385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78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F0D4117-AE1C-5248-ACA4-1064E95A216A}"/>
              </a:ext>
            </a:extLst>
          </p:cNvPr>
          <p:cNvSpPr txBox="1">
            <a:spLocks/>
          </p:cNvSpPr>
          <p:nvPr userDrawn="1"/>
        </p:nvSpPr>
        <p:spPr>
          <a:xfrm>
            <a:off x="625930" y="3528660"/>
            <a:ext cx="4572605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34289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 marL="685783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 marL="1028675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 marL="1371566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  <a:lvl6pPr marL="1714457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indent="0" algn="ctr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717DD-3DB4-EE48-AD3F-B3C40531E4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9185" y="2883652"/>
            <a:ext cx="4977972" cy="497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44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2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4368442" cy="2852737"/>
          </a:xfrm>
        </p:spPr>
        <p:txBody>
          <a:bodyPr anchor="b"/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436844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F38CB-B9AB-3F49-9F01-961B1E1DB2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359987">
            <a:off x="5122190" y="759417"/>
            <a:ext cx="6792697" cy="679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45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1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473530" y="1122363"/>
            <a:ext cx="4572605" cy="2387600"/>
          </a:xfrm>
        </p:spPr>
        <p:txBody>
          <a:bodyPr anchor="b"/>
          <a:lstStyle>
            <a:lvl1pPr algn="l">
              <a:defRPr sz="4500"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473530" y="3602038"/>
            <a:ext cx="4572605" cy="1655762"/>
          </a:xfrm>
        </p:spPr>
        <p:txBody>
          <a:bodyPr/>
          <a:lstStyle>
            <a:lvl1pPr marL="0" indent="0" algn="l">
              <a:buNone/>
              <a:defRPr sz="1800">
                <a:latin typeface="Real Text Pro" charset="0"/>
                <a:ea typeface="Real Text Pro" charset="0"/>
                <a:cs typeface="Real Text Pro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731D7-3029-0D4C-B53B-8F00C613E5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739185" y="2883651"/>
            <a:ext cx="4977972" cy="497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839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Section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628650" y="4515556"/>
            <a:ext cx="737235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9958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2001"/>
            <a:ext cx="78867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28651" y="1332089"/>
            <a:ext cx="7357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02420"/>
            <a:ext cx="78867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C3A163-F2F5-304C-8FD9-6CDBAA4078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708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28650" y="1692001"/>
            <a:ext cx="78867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8651" y="1332089"/>
            <a:ext cx="7357533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28650" y="302420"/>
            <a:ext cx="78867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627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7BDC91-08C6-9D44-9272-04C1B635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7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1996" y="1825625"/>
            <a:ext cx="3886200" cy="4351338"/>
          </a:xfrm>
        </p:spPr>
        <p:txBody>
          <a:bodyPr/>
          <a:lstStyle>
            <a:lvl1pPr>
              <a:defRPr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0B4BED-31A1-7D4B-AC6C-66A3A4A87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490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825625"/>
            <a:ext cx="38862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651" y="6397398"/>
            <a:ext cx="2016578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1A5E71-EC63-C94A-A66F-17188B2F42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888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0"/>
          </p:nvPr>
        </p:nvSpPr>
        <p:spPr>
          <a:xfrm>
            <a:off x="4901997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61307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995110-0B3E-E44E-9808-E5013EF8A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035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37084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Head Pro" charset="0"/>
                <a:ea typeface="Real Head Pro" charset="0"/>
                <a:cs typeface="Real Head Pro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8651" y="6397398"/>
            <a:ext cx="2016578" cy="240173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>
            <a:off x="628650" y="1690688"/>
            <a:ext cx="3708400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4613071" y="1825625"/>
            <a:ext cx="0" cy="4571772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sz="half" idx="10"/>
          </p:nvPr>
        </p:nvSpPr>
        <p:spPr>
          <a:xfrm>
            <a:off x="4914900" y="1825625"/>
            <a:ext cx="3708400" cy="43513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2pPr>
            <a:lvl3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3pPr>
            <a:lvl4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4pPr>
            <a:lvl5pPr>
              <a:defRPr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11758C-0F6E-B647-B088-186CB9AA95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47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731079" y="0"/>
            <a:ext cx="5412922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/>
            </a:lvl2pPr>
            <a:lvl3pPr marL="814370" indent="-128588">
              <a:buFont typeface="Arial" panose="020B0604020202020204" pitchFamily="34" charset="0"/>
              <a:buChar char="•"/>
              <a:defRPr sz="900"/>
            </a:lvl3pPr>
            <a:lvl4pPr marL="1157262" indent="-128588">
              <a:buFont typeface="Arial" panose="020B0604020202020204" pitchFamily="34" charset="0"/>
              <a:buChar char="•"/>
              <a:defRPr sz="750"/>
            </a:lvl4pPr>
            <a:lvl5pPr marL="1500153" indent="-128588">
              <a:buFont typeface="Arial" panose="020B0604020202020204" pitchFamily="34" charset="0"/>
              <a:buChar char="•"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457200"/>
            <a:ext cx="2949178" cy="1379768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Here – Image on Black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28651" y="1841630"/>
            <a:ext cx="295036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DCC06A-3F72-4A46-B666-4BC6A0CBBE0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82666" y="1262591"/>
            <a:ext cx="4637484" cy="3965575"/>
          </a:xfrm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138533-78AE-9346-B580-D0942D6FBE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664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3826934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2pPr>
            <a:lvl3pPr marL="814370" indent="-128588"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457200"/>
            <a:ext cx="2949178" cy="1379768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Here – Image on White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28651" y="1841630"/>
            <a:ext cx="2950369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D2D8BB13-04C6-4244-BF0F-D230697E61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82666" y="1262591"/>
            <a:ext cx="4637484" cy="3965575"/>
          </a:xfrm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306DA0-7F10-CF42-845F-1116F6E0F6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8920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0"/>
            <a:ext cx="372291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16508" y="558800"/>
            <a:ext cx="4941226" cy="1379768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– Full Bleed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16508" y="2159000"/>
            <a:ext cx="4941226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2pPr>
            <a:lvl3pPr marL="814370" indent="-128588"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</a:defRPr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015317" y="1917531"/>
            <a:ext cx="4942417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42540C-E1DF-4747-A482-F000E036E3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82480" y="-44532"/>
            <a:ext cx="3920200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75AD5D-C33F-0249-B60E-8B3E4AB0A0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94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with Content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3742267" y="-1"/>
            <a:ext cx="5401733" cy="69025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16508" y="558800"/>
            <a:ext cx="4941226" cy="1379768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</a:lstStyle>
          <a:p>
            <a:r>
              <a:rPr lang="en-US"/>
              <a:t>Title – Full Bleed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016508" y="2159000"/>
            <a:ext cx="4941226" cy="3811588"/>
          </a:xfrm>
        </p:spPr>
        <p:txBody>
          <a:bodyPr/>
          <a:lstStyle>
            <a:lvl1pPr marL="214313" indent="-214313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eal Text Pro" charset="0"/>
                <a:ea typeface="Real Text Pro" charset="0"/>
                <a:cs typeface="Real Text Pro" charset="0"/>
              </a:defRPr>
            </a:lvl1pPr>
            <a:lvl2pPr marL="557204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2pPr>
            <a:lvl3pPr marL="814370" indent="-128588"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</a:defRPr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4015317" y="1917531"/>
            <a:ext cx="4942417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42540C-E1DF-4747-A482-F000E036E30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77933" y="-44532"/>
            <a:ext cx="3920200" cy="6947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	</a:t>
            </a:r>
          </a:p>
          <a:p>
            <a:r>
              <a:rPr lang="en-US"/>
              <a:t>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CF867D-E1D5-794A-9077-D569B498E2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129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628651" y="1332089"/>
            <a:ext cx="7324928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– Chart Example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C436304-74C6-2A49-A8C4-DA04D212BCAE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628650" y="1843088"/>
            <a:ext cx="7886700" cy="4248150"/>
          </a:xfr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C414B-DC58-6A46-9AEA-1988D62A4F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422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628651" y="1332089"/>
            <a:ext cx="7324928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– SmartArt Example</a:t>
            </a:r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12773BB6-5B99-1C4F-8F4B-472D3A76FEE3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28650" y="1690688"/>
            <a:ext cx="7886700" cy="4665662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2A3B3F-D57F-C841-AEE2-C34CCEC78D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90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 userDrawn="1"/>
        </p:nvCxnSpPr>
        <p:spPr>
          <a:xfrm>
            <a:off x="628651" y="1332089"/>
            <a:ext cx="7324928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– Table Example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836C344-5A38-7644-96BD-E1AA1C79581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28650" y="1690689"/>
            <a:ext cx="7886700" cy="4410075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9C096B-2565-BB4D-82FD-EDE349CD96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91450" y="5247754"/>
            <a:ext cx="1291161" cy="12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864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7318" y="1206500"/>
            <a:ext cx="4379259" cy="1524000"/>
          </a:xfrm>
        </p:spPr>
        <p:txBody>
          <a:bodyPr>
            <a:normAutofit/>
          </a:bodyPr>
          <a:lstStyle>
            <a:lvl1pPr algn="ctr">
              <a:defRPr sz="45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885951" y="2997200"/>
            <a:ext cx="5527832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AE1F7A0-AE01-D04B-AA42-CB7A1578C0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9272" y="2997200"/>
            <a:ext cx="3461189" cy="34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093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_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507318" y="1206500"/>
            <a:ext cx="4379259" cy="1524000"/>
          </a:xfrm>
        </p:spPr>
        <p:txBody>
          <a:bodyPr>
            <a:normAutofit/>
          </a:bodyPr>
          <a:lstStyle>
            <a:lvl1pPr algn="ctr">
              <a:defRPr sz="4500" b="1" i="0">
                <a:latin typeface="Real Text Pro Demibold" charset="0"/>
                <a:ea typeface="Real Text Pro Demibold" charset="0"/>
                <a:cs typeface="Real Text Pro Demibold" charset="0"/>
              </a:defRPr>
            </a:lvl1pPr>
          </a:lstStyle>
          <a:p>
            <a:r>
              <a:rPr lang="en-US"/>
              <a:t>Thank You!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885951" y="2997200"/>
            <a:ext cx="5527832" cy="0"/>
          </a:xfrm>
          <a:prstGeom prst="line">
            <a:avLst/>
          </a:prstGeom>
          <a:ln w="25400">
            <a:solidFill>
              <a:srgbClr val="E119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47DDB3-1A4E-954F-A748-7A1D214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9272" y="2997200"/>
            <a:ext cx="3461189" cy="34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15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Northeastern Brand Template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627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3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3" r:id="rId3"/>
    <p:sldLayoutId id="2147483672" r:id="rId4"/>
    <p:sldLayoutId id="2147483723" r:id="rId5"/>
    <p:sldLayoutId id="2147483651" r:id="rId6"/>
    <p:sldLayoutId id="2147483650" r:id="rId7"/>
    <p:sldLayoutId id="2147483667" r:id="rId8"/>
    <p:sldLayoutId id="2147483652" r:id="rId9"/>
    <p:sldLayoutId id="2147483668" r:id="rId10"/>
    <p:sldLayoutId id="2147483692" r:id="rId11"/>
    <p:sldLayoutId id="2147483691" r:id="rId12"/>
    <p:sldLayoutId id="2147483656" r:id="rId13"/>
    <p:sldLayoutId id="2147483675" r:id="rId14"/>
    <p:sldLayoutId id="2147483671" r:id="rId15"/>
    <p:sldLayoutId id="2147483700" r:id="rId16"/>
    <p:sldLayoutId id="2147483698" r:id="rId17"/>
    <p:sldLayoutId id="2147483699" r:id="rId18"/>
    <p:sldLayoutId id="2147483701" r:id="rId19"/>
    <p:sldLayoutId id="2147483693" r:id="rId20"/>
    <p:sldLayoutId id="2147483694" r:id="rId21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Real Head Pro" charset="0"/>
          <a:ea typeface="Real Head Pro" charset="0"/>
          <a:cs typeface="Real Head Pro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Northeastern Brand Template - Neutral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7627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017B6-6466-CA44-A203-DCC007137B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1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Real Head Pro" charset="0"/>
          <a:ea typeface="Real Head Pro" charset="0"/>
          <a:cs typeface="Real Head Pro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Real Text Pro" charset="0"/>
          <a:ea typeface="Real Text Pro" charset="0"/>
          <a:cs typeface="Real Text Pro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datasets/jsphyg/weather-dataset-rattle-package" TargetMode="External"/><Relationship Id="rId4" Type="http://schemas.openxmlformats.org/officeDocument/2006/relationships/hyperlink" Target="https://posit.co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5671-CBD3-AD47-8B62-5DCAF83D0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319" y="455355"/>
            <a:ext cx="8633362" cy="147833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Weather Patterns, Rainfall Drivers, and Predictive Modelling in Australia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33A91-77EC-4E41-A24E-40EDA57C2EC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5319" y="2683215"/>
            <a:ext cx="4643252" cy="30280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Samira </a:t>
            </a:r>
            <a:r>
              <a:rPr lang="en-US" dirty="0" err="1"/>
              <a:t>Kapadiya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r>
              <a:rPr lang="en-US" dirty="0"/>
              <a:t>Dheeraj Vattikuti</a:t>
            </a:r>
          </a:p>
          <a:p>
            <a:pPr marL="0" indent="0" algn="ctr">
              <a:buNone/>
            </a:pPr>
            <a:r>
              <a:rPr lang="en-US" dirty="0"/>
              <a:t>Dhrumil Khalas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Northeastern University</a:t>
            </a:r>
          </a:p>
          <a:p>
            <a:pPr marL="0" indent="0" algn="ctr">
              <a:buNone/>
            </a:pPr>
            <a:r>
              <a:rPr lang="en-US" dirty="0"/>
              <a:t>Instructor: Dr. Sohom Mandal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February 14, 2026</a:t>
            </a:r>
            <a:r>
              <a:rPr lang="en-US" u="sng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4D28D-1F31-EC87-4377-9F0FD6500345}"/>
              </a:ext>
            </a:extLst>
          </p:cNvPr>
          <p:cNvSpPr txBox="1"/>
          <p:nvPr/>
        </p:nvSpPr>
        <p:spPr>
          <a:xfrm>
            <a:off x="-1750741" y="8251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68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3BD9-DAD2-9D20-DD7A-221961B2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55C5FC-E1E7-B4C7-E0BE-B8C262CA3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42" y="141322"/>
            <a:ext cx="8407505" cy="1325563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Introduction</a:t>
            </a:r>
            <a:endParaRPr lang="en-CA" sz="3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A54A7FA-030B-2666-A4AC-74EB0C4A9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0927"/>
            <a:ext cx="7886700" cy="4710895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Real Head Pro"/>
              </a:rPr>
              <a:t>Rainfall is essential for agriculture, water management, infrastructure, and climate risk planning in Australia</a:t>
            </a:r>
          </a:p>
          <a:p>
            <a:pPr marL="0" indent="0">
              <a:buNone/>
            </a:pPr>
            <a:endParaRPr lang="en-US" sz="400" dirty="0">
              <a:latin typeface="Real Head Pro"/>
            </a:endParaRPr>
          </a:p>
          <a:p>
            <a:r>
              <a:rPr lang="en-US" sz="1400" dirty="0">
                <a:latin typeface="Real Head Pro"/>
              </a:rPr>
              <a:t>Rainfall patterns vary across regions and require region-specific analysis</a:t>
            </a:r>
          </a:p>
          <a:p>
            <a:pPr marL="0" indent="0">
              <a:buNone/>
            </a:pPr>
            <a:endParaRPr lang="en-US" sz="400" dirty="0">
              <a:latin typeface="Real Head Pro"/>
            </a:endParaRPr>
          </a:p>
          <a:p>
            <a:r>
              <a:rPr lang="en-US" sz="1400" dirty="0">
                <a:latin typeface="Real Head Pro"/>
              </a:rPr>
              <a:t>This study analyzes daily weather data from 44 Australian locations</a:t>
            </a:r>
          </a:p>
          <a:p>
            <a:pPr marL="0" indent="0">
              <a:buNone/>
            </a:pPr>
            <a:endParaRPr lang="en-US" sz="400" dirty="0">
              <a:latin typeface="Real Head Pro"/>
            </a:endParaRPr>
          </a:p>
          <a:p>
            <a:r>
              <a:rPr lang="en-US" sz="1400" dirty="0">
                <a:latin typeface="Real Head Pro"/>
              </a:rPr>
              <a:t>Objective: Identify rainfall drivers, predict next-day rain, and group locations by climate patterns</a:t>
            </a:r>
          </a:p>
          <a:p>
            <a:pPr marL="0" indent="0">
              <a:buNone/>
            </a:pPr>
            <a:endParaRPr lang="en-US" sz="400" dirty="0">
              <a:latin typeface="Real Head Pro"/>
            </a:endParaRPr>
          </a:p>
          <a:p>
            <a:r>
              <a:rPr lang="en-US" sz="1400" dirty="0">
                <a:latin typeface="Real Head Pro"/>
              </a:rPr>
              <a:t>Methods: Regression, logistic modelling, ROC analysis, PCA, and K-Means clustering</a:t>
            </a:r>
          </a:p>
          <a:p>
            <a:pPr marL="0" indent="0">
              <a:buNone/>
            </a:pPr>
            <a:endParaRPr lang="en-US" sz="400" dirty="0">
              <a:latin typeface="Real Head Pro"/>
            </a:endParaRPr>
          </a:p>
          <a:p>
            <a:r>
              <a:rPr lang="en-US" sz="1400" dirty="0">
                <a:latin typeface="Real Head Pro"/>
              </a:rPr>
              <a:t>Findings support evidence-based planning for the Australian Government Department of Agriculture, Fisheries and Forestry</a:t>
            </a:r>
            <a:endParaRPr lang="en-CA" sz="1400" dirty="0">
              <a:latin typeface="Real Head Pr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51E266-A074-F7D7-8AFE-25CCABB3A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297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B6CF8-1007-B79A-B278-6EFDE5473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C495E7-FFBC-5DEE-4280-F23479B10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42" y="141322"/>
            <a:ext cx="8407505" cy="1325563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Dataset Overview</a:t>
            </a:r>
            <a:endParaRPr lang="en-CA" sz="3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B9B7D52-961E-C25B-BD9D-A752D2EC2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3" y="1630018"/>
            <a:ext cx="8507894" cy="478072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rgbClr val="D41B2C"/>
                </a:solidFill>
              </a:rPr>
              <a:t>Dataset Information</a:t>
            </a:r>
          </a:p>
          <a:p>
            <a:r>
              <a:rPr lang="en-IN" sz="1400" dirty="0"/>
              <a:t>Dataset: “Rain in Australia” from Kaggle</a:t>
            </a:r>
          </a:p>
          <a:p>
            <a:r>
              <a:rPr lang="en-IN" sz="1400" dirty="0"/>
              <a:t>Original Size: 145,460 observations × 23 variables</a:t>
            </a:r>
          </a:p>
          <a:p>
            <a:r>
              <a:rPr lang="en-IN" sz="1400" dirty="0"/>
              <a:t>After Cleaning: 119,590 observations × 16 variables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D41B2C"/>
                </a:solidFill>
              </a:rPr>
              <a:t>Variable Types (Final Dataset)</a:t>
            </a:r>
          </a:p>
          <a:p>
            <a:r>
              <a:rPr lang="en-IN" sz="1400" dirty="0"/>
              <a:t>Numeric Variables: 12</a:t>
            </a:r>
          </a:p>
          <a:p>
            <a:r>
              <a:rPr lang="en-IN" sz="1400" dirty="0"/>
              <a:t>Categorical (Factor): 2 (RainToday, RainTomorrow)</a:t>
            </a:r>
          </a:p>
          <a:p>
            <a:r>
              <a:rPr lang="en-IN" sz="1400" dirty="0"/>
              <a:t>Other Variables: 2 (Date, Location)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D41B2C"/>
                </a:solidFill>
              </a:rPr>
              <a:t>Key Variables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Target Variables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400" dirty="0"/>
              <a:t>Rainfall (mm):</a:t>
            </a:r>
            <a:r>
              <a:rPr lang="en-IN" sz="1400" b="1" dirty="0"/>
              <a:t> </a:t>
            </a:r>
            <a:r>
              <a:rPr lang="en-IN" sz="1400" dirty="0"/>
              <a:t>Continuous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400" dirty="0"/>
              <a:t>RainTomorrow (Yes/No):</a:t>
            </a:r>
            <a:r>
              <a:rPr lang="en-IN" sz="1400" b="1" dirty="0"/>
              <a:t> </a:t>
            </a:r>
            <a:r>
              <a:rPr lang="en-IN" sz="1400" dirty="0"/>
              <a:t>Classification target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Main Predictors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400" dirty="0"/>
              <a:t>Temperature: MinTemp, MaxTemp, Temp9am, Temp3pm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400" dirty="0"/>
              <a:t>Wind: WindGustSpeed, WindSpeed9am, WindSpeed3pm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400" dirty="0"/>
              <a:t>Humidity: Humidity9am, Humidity3pm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400" dirty="0"/>
              <a:t>Pressure: Pressure9am, Pressure3pm</a:t>
            </a:r>
          </a:p>
          <a:p>
            <a:pPr marL="0" indent="0">
              <a:buNone/>
            </a:pPr>
            <a:r>
              <a:rPr lang="en-IN" sz="1600" b="1" dirty="0">
                <a:solidFill>
                  <a:srgbClr val="D41B2C"/>
                </a:solidFill>
              </a:rPr>
              <a:t>Data Cleaning Summary</a:t>
            </a:r>
          </a:p>
          <a:p>
            <a:r>
              <a:rPr lang="en-IN" sz="1400" dirty="0"/>
              <a:t>Removed high-missing variables (Evaporation, Sunshine, Cloud variables, Wind direction)</a:t>
            </a:r>
          </a:p>
          <a:p>
            <a:r>
              <a:rPr lang="en-IN" sz="1400" dirty="0"/>
              <a:t>Converted rain variables to factors</a:t>
            </a:r>
          </a:p>
          <a:p>
            <a:r>
              <a:rPr lang="en-IN" sz="1400" dirty="0"/>
              <a:t>Removed rows with missing values</a:t>
            </a:r>
          </a:p>
          <a:p>
            <a:r>
              <a:rPr lang="en-IN" sz="1400" dirty="0"/>
              <a:t>Final dataset contains 0 missing values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AD4196-B3C9-91F5-8F0D-C064076DB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5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6E2C-8395-16CE-C48E-219A920A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2879D-BA11-53FF-4B35-4C190DCB0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42" y="141322"/>
            <a:ext cx="8407505" cy="1325563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D91418B-1803-FA39-8599-C4F822D34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18860"/>
            <a:ext cx="7886700" cy="4897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This presentation aims to provide data-driven insights into rainfall patterns, predictive forecasting, and regional climate segmentation across Australia for the Australian Government Department of Agriculture, Fisheries and Forestry to inform evidence-based planning and climate risk assessment.</a:t>
            </a:r>
          </a:p>
          <a:p>
            <a:pPr marL="0" indent="0">
              <a:buNone/>
            </a:pPr>
            <a:r>
              <a:rPr lang="en-IN" sz="1400" dirty="0"/>
              <a:t>Accordingly</a:t>
            </a:r>
            <a:r>
              <a:rPr lang="en-US" sz="1400" dirty="0"/>
              <a:t>, the following research questions were formulated:</a:t>
            </a:r>
            <a:endParaRPr lang="en-CA" sz="1400" dirty="0">
              <a:latin typeface="Helvetica" pitchFamily="2" charset="0"/>
            </a:endParaRPr>
          </a:p>
          <a:p>
            <a:pPr marL="0" indent="0">
              <a:buNone/>
            </a:pPr>
            <a:endParaRPr lang="en-CA" sz="400" dirty="0"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Real Head Pro"/>
              </a:rPr>
              <a:t>Which weather factors are most strongly linked to rainfall in Australia? </a:t>
            </a:r>
            <a:r>
              <a:rPr lang="en-CA" sz="1400" dirty="0">
                <a:solidFill>
                  <a:srgbClr val="D41B2C"/>
                </a:solidFill>
                <a:latin typeface="Helvetica" pitchFamily="2" charset="0"/>
              </a:rPr>
              <a:t>(</a:t>
            </a:r>
            <a:r>
              <a:rPr lang="en-IN" sz="1400" dirty="0">
                <a:solidFill>
                  <a:srgbClr val="D41B2C"/>
                </a:solidFill>
              </a:rPr>
              <a:t>Multiple Linear Regression &amp; Lasso Regression</a:t>
            </a:r>
            <a:r>
              <a:rPr lang="en-CA" sz="1400" dirty="0">
                <a:solidFill>
                  <a:srgbClr val="D41B2C"/>
                </a:solidFill>
                <a:latin typeface="Helvetica" pitchFamily="2" charset="0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CA" sz="400" dirty="0"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Real Head Pro"/>
              </a:rPr>
              <a:t>Can we predict whether it will rain tomorrow based on today’s weather conditions?</a:t>
            </a:r>
            <a:r>
              <a:rPr lang="en-US" sz="1400" dirty="0">
                <a:solidFill>
                  <a:srgbClr val="FF0000"/>
                </a:solidFill>
                <a:latin typeface="Real Head Pro"/>
              </a:rPr>
              <a:t> </a:t>
            </a:r>
            <a:r>
              <a:rPr lang="en-CA" sz="1400" dirty="0">
                <a:solidFill>
                  <a:srgbClr val="D41B2C"/>
                </a:solidFill>
                <a:latin typeface="Real Head Pro"/>
              </a:rPr>
              <a:t>(</a:t>
            </a:r>
            <a:r>
              <a:rPr lang="en-IN" sz="1400" dirty="0">
                <a:solidFill>
                  <a:srgbClr val="D41B2C"/>
                </a:solidFill>
                <a:latin typeface="Real Head Pro"/>
              </a:rPr>
              <a:t>Logistic Regression</a:t>
            </a:r>
            <a:r>
              <a:rPr lang="en-CA" sz="1400" dirty="0">
                <a:solidFill>
                  <a:srgbClr val="D41B2C"/>
                </a:solidFill>
                <a:latin typeface="Real Head Pro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CA" sz="400" dirty="0"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Real Head Pro"/>
              </a:rPr>
              <a:t>Which locations in Australia have similar weather patterns?</a:t>
            </a:r>
            <a:r>
              <a:rPr lang="en-US" sz="1400" dirty="0">
                <a:solidFill>
                  <a:srgbClr val="FF0000"/>
                </a:solidFill>
                <a:latin typeface="Real Head Pro"/>
              </a:rPr>
              <a:t> </a:t>
            </a:r>
            <a:r>
              <a:rPr lang="en-CA" sz="1400" dirty="0">
                <a:solidFill>
                  <a:srgbClr val="D41B2C"/>
                </a:solidFill>
                <a:latin typeface="Real Head Pro"/>
              </a:rPr>
              <a:t>(K-Means Clustering)</a:t>
            </a:r>
          </a:p>
          <a:p>
            <a:endParaRPr lang="en-CA" sz="1800" dirty="0">
              <a:latin typeface="Helvetica" pitchFamily="2" charset="0"/>
            </a:endParaRPr>
          </a:p>
          <a:p>
            <a:endParaRPr lang="en-CA" sz="1800" dirty="0">
              <a:latin typeface="Helvetica" pitchFamily="2" charset="0"/>
            </a:endParaRPr>
          </a:p>
          <a:p>
            <a:endParaRPr lang="en-CA" sz="1800" dirty="0">
              <a:latin typeface="Helvetica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B9A22A-C11E-871E-32ED-F27602819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2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ABD1E-2764-2793-0E9C-70BF094D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3412C9-427A-8DE6-3C5F-459B5D8F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42" y="141322"/>
            <a:ext cx="8407505" cy="1325563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Methods Overview</a:t>
            </a:r>
            <a:endParaRPr lang="en-CA" sz="3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BFCA280-48AB-2BA9-3628-3AF9046BF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19" y="1605281"/>
            <a:ext cx="7368187" cy="501543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1600" b="1" dirty="0">
                <a:solidFill>
                  <a:srgbClr val="D41B2C"/>
                </a:solidFill>
              </a:rPr>
              <a:t>Data Preparation</a:t>
            </a:r>
          </a:p>
          <a:p>
            <a:r>
              <a:rPr lang="en-US" sz="1400" dirty="0"/>
              <a:t>Cleaned variables and handled missing values</a:t>
            </a:r>
            <a:endParaRPr lang="en-IN" sz="1400" dirty="0"/>
          </a:p>
          <a:p>
            <a:r>
              <a:rPr lang="en-IN" sz="1400" dirty="0"/>
              <a:t>Selected relevant weather predictors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D41B2C"/>
                </a:solidFill>
              </a:rPr>
              <a:t>Exploratory Analysis</a:t>
            </a:r>
          </a:p>
          <a:p>
            <a:r>
              <a:rPr lang="en-US" sz="1400" dirty="0"/>
              <a:t>Descriptive statistics and correlation analysis</a:t>
            </a:r>
            <a:endParaRPr lang="en-IN" sz="1400" dirty="0"/>
          </a:p>
          <a:p>
            <a:r>
              <a:rPr lang="en-IN" sz="1400" dirty="0"/>
              <a:t>Heatmap visualization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D41B2C"/>
                </a:solidFill>
              </a:rPr>
              <a:t>Modelling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Multiple Linear &amp; Lasso Regression → Rainfall drivers</a:t>
            </a:r>
            <a:endParaRPr lang="en-IN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Logistic Regression → Rain Tomorrow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ROC &amp; AUC → Performance evaluation</a:t>
            </a:r>
            <a:endParaRPr lang="en-I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1600" b="1" dirty="0">
                <a:solidFill>
                  <a:srgbClr val="D41B2C"/>
                </a:solidFill>
              </a:rPr>
              <a:t>Clustering</a:t>
            </a:r>
          </a:p>
          <a:p>
            <a:r>
              <a:rPr lang="en-IN" sz="1400" dirty="0"/>
              <a:t>K-Means → Regional weather segmentation</a:t>
            </a:r>
          </a:p>
          <a:p>
            <a:r>
              <a:rPr lang="en-IN" sz="1400" dirty="0"/>
              <a:t>Elbow, Silhouette &amp; PCA → Cluster validation and visualization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1A100D-C037-32E0-C8C1-FDBB46146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6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5A0E0-A853-26E5-4719-BBF654FC9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36DC65-DFC0-22C7-2AA4-75AD97A3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5" y="0"/>
            <a:ext cx="8727311" cy="1564921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 1: </a:t>
            </a:r>
            <a:r>
              <a:rPr lang="en-US" sz="3000" b="1" dirty="0"/>
              <a:t>Which weather factors are most strongly linked to rainfall in Australia?</a:t>
            </a:r>
            <a:endParaRPr lang="en-CA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2B0534-4E25-A777-9FD2-A040A497A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5" y="2024527"/>
            <a:ext cx="5016725" cy="4593355"/>
          </a:xfrm>
          <a:prstGeom prst="rect">
            <a:avLst/>
          </a:prstGeom>
          <a:noFill/>
          <a:effectLst>
            <a:softEdge rad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535090-95AA-42FE-AB88-99A3FE024035}"/>
              </a:ext>
            </a:extLst>
          </p:cNvPr>
          <p:cNvSpPr txBox="1"/>
          <p:nvPr/>
        </p:nvSpPr>
        <p:spPr>
          <a:xfrm>
            <a:off x="5415280" y="1919204"/>
            <a:ext cx="349722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Strong Positive Signals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Humidity (9am &amp; 3pm)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Wind Gust Speed</a:t>
            </a:r>
          </a:p>
          <a:p>
            <a:endParaRPr lang="en-US" sz="14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Strong Negative Signal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Pressure (9am &amp; 3pm)</a:t>
            </a:r>
          </a:p>
          <a:p>
            <a:endParaRPr lang="en-US" sz="14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Weaker / Mixed Impact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Temperature variable</a:t>
            </a:r>
          </a:p>
          <a:p>
            <a:endParaRPr lang="en-US" sz="14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Takeaway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Rainfall is primarily linked to moisture levels and pressure systems.</a:t>
            </a:r>
          </a:p>
          <a:p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17469C-45E7-1229-F1DD-E772EACBF07F}"/>
              </a:ext>
            </a:extLst>
          </p:cNvPr>
          <p:cNvSpPr txBox="1"/>
          <p:nvPr/>
        </p:nvSpPr>
        <p:spPr>
          <a:xfrm>
            <a:off x="393539" y="1439752"/>
            <a:ext cx="8518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Real Head Pro"/>
              </a:rPr>
              <a:t>Understanding the strongest drivers of rainfall helps the Department anticipate water availability, drought risk.</a:t>
            </a:r>
            <a:endParaRPr lang="en-CA" sz="1400" dirty="0">
              <a:latin typeface="Real Head Pr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73209-8417-15A5-A364-93D1BDDBA4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49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BCE4A-4BA7-9036-A82F-E5DAD258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1C0DD0-EFAD-CD66-CA32-80BBCCE8A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5" y="0"/>
            <a:ext cx="8727311" cy="1564921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 1: </a:t>
            </a:r>
            <a:r>
              <a:rPr lang="en-US" sz="3000" b="1" dirty="0"/>
              <a:t>Which weather factors are most strongly linked to rainfall in Australia?</a:t>
            </a:r>
            <a:endParaRPr lang="en-CA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D46A4-4BBE-0D25-24B8-D883B6F08B44}"/>
              </a:ext>
            </a:extLst>
          </p:cNvPr>
          <p:cNvSpPr txBox="1"/>
          <p:nvPr/>
        </p:nvSpPr>
        <p:spPr>
          <a:xfrm>
            <a:off x="5506720" y="1620660"/>
            <a:ext cx="3291840" cy="367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Largest Positive Effects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Afternoon Temperature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Afternoon Pressure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Wind Gust Speed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Humidity</a:t>
            </a:r>
          </a:p>
          <a:p>
            <a:endParaRPr lang="en-US" sz="11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Largest Negative Effects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Maximum Temperature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Morning Pressure</a:t>
            </a:r>
          </a:p>
          <a:p>
            <a:endParaRPr lang="en-US" sz="11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Takeaway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Higher afternoon temperature and afternoon pressure increase rainfall, while higher maximum temperature and higher morning pressure reduce it.</a:t>
            </a:r>
          </a:p>
          <a:p>
            <a:endParaRPr lang="en-IN" sz="1100" dirty="0">
              <a:latin typeface="Real Head Pr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ADE160-E153-ADA6-32C5-7E2927F1C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5" y="1620660"/>
            <a:ext cx="5077685" cy="46480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EC4C5A-1927-51F0-255B-579659E8B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66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1005-9F20-66EE-0485-5D20AE34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0ED309-3EA8-52DD-D637-080FAF6A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1" y="1564921"/>
            <a:ext cx="8686800" cy="3654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Real Head Pro"/>
              </a:rPr>
              <a:t>Understanding the strongest drivers of rainfall helps the Department anticipate water availability, drought risk.</a:t>
            </a:r>
            <a:endParaRPr lang="en-CA" sz="1400" dirty="0">
              <a:latin typeface="Real Head Pro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FECDA2-08BF-6119-47CF-3049C8DF7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0"/>
            <a:ext cx="8768080" cy="1564921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 2: </a:t>
            </a:r>
            <a:r>
              <a:rPr lang="en-US" sz="3000" b="1" dirty="0"/>
              <a:t>Can we predict whether it will rain tomorrow based on today’s weather conditions?</a:t>
            </a:r>
            <a:endParaRPr lang="en-CA" sz="3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BE3C23-34FF-A245-230E-C924C0CF8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1" y="2067218"/>
            <a:ext cx="4846319" cy="43640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8A8476-7214-B26C-FCA3-1609E0C97C26}"/>
              </a:ext>
            </a:extLst>
          </p:cNvPr>
          <p:cNvSpPr txBox="1"/>
          <p:nvPr/>
        </p:nvSpPr>
        <p:spPr>
          <a:xfrm>
            <a:off x="5262880" y="2067218"/>
            <a:ext cx="3596639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Model Performance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Overall Accuracy: 84.9%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Precision (Positive Predictive Value): 73.2%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Recall (Sensitivity): 49.2%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F1 Score: ≈ 58.8%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Specificity: 94.9%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ROC-AUC: 0.865 (Strong predictive ability)</a:t>
            </a:r>
            <a:endParaRPr lang="en-US" sz="1400" dirty="0">
              <a:latin typeface="Real Head Pro"/>
            </a:endParaRPr>
          </a:p>
          <a:p>
            <a:endParaRPr lang="en-US" sz="14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Takeaway</a:t>
            </a: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The model has strong overall accuracy and clearly separates rain from no-rain days (AUC 0.865). It is very reliable at identifying dry days, but detects about half of actual rain events.</a:t>
            </a:r>
            <a:endParaRPr lang="en-US" sz="1400" dirty="0">
              <a:latin typeface="Real Head Pro"/>
            </a:endParaRPr>
          </a:p>
          <a:p>
            <a:endParaRPr lang="en-IN" sz="1400" dirty="0">
              <a:latin typeface="Real Head Pr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2858FF-EC9D-F281-6736-31B0B66B5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68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E04AA-A6B1-4845-FBA0-12C8243C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127BEC-9081-DCAF-0A73-61CA0F5D4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1" y="1439753"/>
            <a:ext cx="8686800" cy="4906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1600" dirty="0">
              <a:latin typeface="Real Head Pro"/>
            </a:endParaRPr>
          </a:p>
          <a:p>
            <a:pPr marL="0" indent="0">
              <a:buNone/>
            </a:pPr>
            <a:endParaRPr lang="en-CA" sz="1600" dirty="0">
              <a:latin typeface="Helvetic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A75D57-18CC-8E0D-C90A-D334DDF8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0"/>
            <a:ext cx="8768080" cy="1564921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 2: </a:t>
            </a:r>
            <a:r>
              <a:rPr lang="en-US" sz="3000" b="1" dirty="0"/>
              <a:t>Can we predict whether it will rain tomorrow based on today’s weather conditions?</a:t>
            </a:r>
            <a:endParaRPr lang="en-CA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E3D5B-6EEB-22AA-7622-A9CCF56482D1}"/>
              </a:ext>
            </a:extLst>
          </p:cNvPr>
          <p:cNvSpPr txBox="1"/>
          <p:nvPr/>
        </p:nvSpPr>
        <p:spPr>
          <a:xfrm>
            <a:off x="1" y="1439753"/>
            <a:ext cx="4571999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D41B2C"/>
                </a:solidFill>
              </a:rPr>
              <a:t>Increase Rain Probability</a:t>
            </a:r>
            <a:endParaRPr lang="en-US" sz="1600" b="1" dirty="0">
              <a:solidFill>
                <a:srgbClr val="D41B2C"/>
              </a:solidFill>
              <a:latin typeface="Real Head Pro"/>
            </a:endParaRP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Pressure (9am) → Strong Positive effect (0.139)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Wind Gust Speed → Strong positive effect (0.068)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Humidity (3pm) → Strong positive effect (0.063)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Minimum Temperature → Positive effect (0.032)</a:t>
            </a:r>
            <a:endParaRPr lang="en-US" sz="1400" dirty="0">
              <a:latin typeface="Real Head Pro"/>
            </a:endParaRPr>
          </a:p>
          <a:p>
            <a:endParaRPr lang="en-US" sz="1000" dirty="0">
              <a:latin typeface="Real Head Pro"/>
            </a:endParaRPr>
          </a:p>
          <a:p>
            <a:r>
              <a:rPr lang="en-IN" sz="1600" b="1" dirty="0">
                <a:solidFill>
                  <a:srgbClr val="D41B2C"/>
                </a:solidFill>
              </a:rPr>
              <a:t>Decrease Rain Probability</a:t>
            </a:r>
            <a:endParaRPr lang="en-US" sz="1600" b="1" dirty="0">
              <a:solidFill>
                <a:srgbClr val="D41B2C"/>
              </a:solidFill>
              <a:latin typeface="Real Head Pro"/>
            </a:endParaRP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Pressure (3pm) → Strong negative effect (-0.209)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Wind Speed (3pm) → Negative effect (-0.046)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Maximum Temperature → Negative effect (-0.023)</a:t>
            </a:r>
          </a:p>
          <a:p>
            <a:endParaRPr lang="en-US" sz="1000" dirty="0">
              <a:latin typeface="Real Head Pro"/>
            </a:endParaRPr>
          </a:p>
          <a:p>
            <a:r>
              <a:rPr lang="en-IN" sz="1600" b="1" dirty="0">
                <a:solidFill>
                  <a:srgbClr val="D41B2C"/>
                </a:solidFill>
              </a:rPr>
              <a:t>Confusion Matrix Summary</a:t>
            </a:r>
          </a:p>
          <a:p>
            <a:endParaRPr lang="en-IN" sz="400" b="1" dirty="0"/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Correct No Rain Predictions → 88,694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Correct Rain Predictions → 12,878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Missed Rain Days (Predicted No, Actually Yes) → 13,309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False Alarms (Predicted Rain, Actually No) → 4,709</a:t>
            </a:r>
          </a:p>
          <a:p>
            <a:endParaRPr lang="en-US" sz="10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</a:rPr>
              <a:t>Takeaway</a:t>
            </a:r>
          </a:p>
          <a:p>
            <a:endParaRPr lang="en-US" sz="400" b="1" dirty="0"/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Pressure and wind patterns are the strongest signals of next-day rain. The model makes far more correct predictions than errors, but some rainy days are still missed.</a:t>
            </a:r>
            <a:endParaRPr lang="en-US" sz="1400" dirty="0">
              <a:latin typeface="Real Head Pro"/>
            </a:endParaRPr>
          </a:p>
          <a:p>
            <a:endParaRPr lang="en-US" sz="1400" dirty="0">
              <a:latin typeface="Real Head Pro"/>
            </a:endParaRPr>
          </a:p>
          <a:p>
            <a:endParaRPr lang="en-IN" sz="1400" dirty="0">
              <a:latin typeface="Real Head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60D3D7-14E1-C00B-1F35-2FD300AB6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468" y="1444560"/>
            <a:ext cx="4573517" cy="288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7CD8ED-34F4-0418-4F88-E55F7F067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191" y="4438633"/>
            <a:ext cx="3538450" cy="233937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6FFD0E-C252-61A5-A991-BC4FD2B8F7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61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F404-545B-834C-9ACB-10BA9285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6972A8-E86C-D386-DFB4-0F1DAE075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1" y="1439753"/>
            <a:ext cx="8686800" cy="490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Identifying climate-based location groups helps the Department plan region-specific water management and drought strategies.</a:t>
            </a:r>
          </a:p>
          <a:p>
            <a:pPr marL="0" indent="0">
              <a:buNone/>
            </a:pPr>
            <a:endParaRPr lang="en-CA" sz="1600" dirty="0">
              <a:latin typeface="Real Head Pro"/>
            </a:endParaRPr>
          </a:p>
          <a:p>
            <a:pPr marL="0" indent="0">
              <a:buNone/>
            </a:pPr>
            <a:endParaRPr lang="en-CA" sz="1600" dirty="0">
              <a:latin typeface="Helvetic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02AFE5-F410-43A6-CCEB-BE15EEFA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0"/>
            <a:ext cx="8768080" cy="1564921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 3: </a:t>
            </a:r>
            <a:r>
              <a:rPr lang="en-US" sz="3000" b="1" dirty="0"/>
              <a:t>Which locations in Australia have similar weather patterns?</a:t>
            </a:r>
            <a:endParaRPr lang="en-CA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ED158-A63F-2B11-B949-F019AE2DF2AC}"/>
              </a:ext>
            </a:extLst>
          </p:cNvPr>
          <p:cNvSpPr txBox="1"/>
          <p:nvPr/>
        </p:nvSpPr>
        <p:spPr>
          <a:xfrm>
            <a:off x="284480" y="2067218"/>
            <a:ext cx="372871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D41B2C"/>
                </a:solidFill>
              </a:rPr>
              <a:t>Clustering Overview</a:t>
            </a:r>
            <a:endParaRPr lang="en-US" sz="1400" dirty="0">
              <a:latin typeface="Real Head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8 Standardized Weather 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Optimal Clusters (Elbow &amp; Silhouette) → k =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Cluster Sizes:</a:t>
            </a:r>
          </a:p>
          <a:p>
            <a:pPr marL="561600" lvl="1" indent="-172800">
              <a:buFont typeface="Wingdings" panose="05000000000000000000" pitchFamily="2" charset="2"/>
              <a:buChar char="§"/>
            </a:pPr>
            <a:r>
              <a:rPr lang="en-IN" sz="1400" dirty="0"/>
              <a:t>Cluster 1 → 40 Locations</a:t>
            </a:r>
          </a:p>
          <a:p>
            <a:pPr marL="561600" lvl="1" indent="-172800">
              <a:buFont typeface="Wingdings" panose="05000000000000000000" pitchFamily="2" charset="2"/>
              <a:buChar char="§"/>
            </a:pPr>
            <a:r>
              <a:rPr lang="en-IN" sz="1400" dirty="0"/>
              <a:t>Cluster 2 → 4 Locations</a:t>
            </a:r>
          </a:p>
          <a:p>
            <a:pPr marL="388800" lvl="1"/>
            <a:endParaRPr lang="en-US" sz="1400" dirty="0">
              <a:latin typeface="Real Head Pro"/>
            </a:endParaRPr>
          </a:p>
          <a:p>
            <a:r>
              <a:rPr lang="en-IN" sz="1600" b="1" dirty="0">
                <a:solidFill>
                  <a:srgbClr val="D41B2C"/>
                </a:solidFill>
              </a:rPr>
              <a:t>PCA Results</a:t>
            </a:r>
            <a:endParaRPr lang="en-US" sz="1600" b="1" dirty="0">
              <a:solidFill>
                <a:srgbClr val="D41B2C"/>
              </a:solidFill>
              <a:latin typeface="Real Head Pro"/>
            </a:endParaRP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Clear separation between two groups along Principal Component 1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Indicates substantial differences in overall weather patterns</a:t>
            </a:r>
          </a:p>
          <a:p>
            <a:endParaRPr lang="en-US" sz="1400" dirty="0">
              <a:latin typeface="Real Head Pro"/>
            </a:endParaRPr>
          </a:p>
          <a:p>
            <a:r>
              <a:rPr lang="en-IN" sz="1600" b="1" dirty="0">
                <a:solidFill>
                  <a:srgbClr val="D41B2C"/>
                </a:solidFill>
                <a:latin typeface="Real Head Pro"/>
              </a:rPr>
              <a:t>Takeaway</a:t>
            </a:r>
          </a:p>
          <a:p>
            <a:endParaRPr lang="en-IN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/>
              <a:t>Australia’s locations cluster into two main weather pattern groups, with most locations sharing similar conditions and a small group showing distinctly different climate characteristics.</a:t>
            </a:r>
            <a:endParaRPr lang="en-US" sz="1400" dirty="0">
              <a:latin typeface="Real Head Pro"/>
            </a:endParaRPr>
          </a:p>
          <a:p>
            <a:endParaRPr lang="en-IN" sz="1400" dirty="0">
              <a:latin typeface="Real Head Pr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70B5B-CE50-204B-EF06-D2EAD2EC9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199" y="2120616"/>
            <a:ext cx="5130801" cy="329763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F13665-E8C7-573A-C0A9-B3E0DDDCD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3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6DABA-640D-22B1-5368-7379663B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0D6FB2-5E87-55AB-E274-DA4705995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481" y="1439753"/>
            <a:ext cx="8686800" cy="49064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CA" sz="1600" dirty="0">
              <a:latin typeface="Real Head Pro"/>
            </a:endParaRPr>
          </a:p>
          <a:p>
            <a:pPr marL="0" indent="0">
              <a:buNone/>
            </a:pPr>
            <a:endParaRPr lang="en-CA" sz="1600" dirty="0">
              <a:latin typeface="Helvetica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0D23BCE-0EC7-1854-0A33-ADF6882E8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1" y="0"/>
            <a:ext cx="8768080" cy="1564921"/>
          </a:xfrm>
        </p:spPr>
        <p:txBody>
          <a:bodyPr>
            <a:normAutofit/>
          </a:bodyPr>
          <a:lstStyle/>
          <a:p>
            <a:pPr algn="ctr"/>
            <a:r>
              <a:rPr lang="en-CA" sz="3000" b="1" dirty="0"/>
              <a:t>Research Question 3: </a:t>
            </a:r>
            <a:r>
              <a:rPr lang="en-US" sz="3000" b="1" dirty="0"/>
              <a:t>Which locations in Australia have similar weather patterns?</a:t>
            </a:r>
            <a:endParaRPr lang="en-CA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808B7-95AF-69DA-9BF5-01BC3CC15A7E}"/>
              </a:ext>
            </a:extLst>
          </p:cNvPr>
          <p:cNvSpPr txBox="1"/>
          <p:nvPr/>
        </p:nvSpPr>
        <p:spPr>
          <a:xfrm>
            <a:off x="5486398" y="1439753"/>
            <a:ext cx="3586481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D41B2C"/>
                </a:solidFill>
                <a:latin typeface="Real Head Pro"/>
              </a:rPr>
              <a:t>Geographic Pattern</a:t>
            </a:r>
            <a:endParaRPr lang="en-US" sz="1600" b="1" dirty="0">
              <a:solidFill>
                <a:srgbClr val="D41B2C"/>
              </a:solidFill>
              <a:latin typeface="Real Head Pro"/>
            </a:endParaRP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Cluster 1 → Predominantly Southern &amp; Coastal regions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Cluster 2 → Concentrated in Northern Australia</a:t>
            </a:r>
          </a:p>
          <a:p>
            <a:endParaRPr lang="en-US" sz="1000" dirty="0">
              <a:latin typeface="Real Head Pro"/>
            </a:endParaRPr>
          </a:p>
          <a:p>
            <a:r>
              <a:rPr lang="en-IN" sz="1600" b="1" dirty="0">
                <a:solidFill>
                  <a:srgbClr val="D41B2C"/>
                </a:solidFill>
                <a:latin typeface="Real Head Pro"/>
              </a:rPr>
              <a:t>Rainfall Differences</a:t>
            </a:r>
            <a:endParaRPr lang="en-US" sz="1600" b="1" dirty="0">
              <a:solidFill>
                <a:srgbClr val="D41B2C"/>
              </a:solidFill>
              <a:latin typeface="Real Head Pro"/>
            </a:endParaRPr>
          </a:p>
          <a:p>
            <a:endParaRPr lang="en-US" sz="400" b="1" dirty="0">
              <a:solidFill>
                <a:srgbClr val="D41B2C"/>
              </a:solidFill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Cluster 1 → ~2.1 mm average daily rainfall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Cluster 2 → ~4.3 mm average daily rainfall</a:t>
            </a: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Cluster 2 receives approximately double the rainfall of Cluster 1</a:t>
            </a:r>
          </a:p>
          <a:p>
            <a:endParaRPr lang="en-US" sz="1000" dirty="0">
              <a:latin typeface="Real Head Pro"/>
            </a:endParaRPr>
          </a:p>
          <a:p>
            <a:r>
              <a:rPr lang="en-US" sz="1600" b="1" dirty="0">
                <a:solidFill>
                  <a:srgbClr val="D41B2C"/>
                </a:solidFill>
                <a:latin typeface="Real Head Pro"/>
              </a:rPr>
              <a:t>Takeaway</a:t>
            </a:r>
          </a:p>
          <a:p>
            <a:endParaRPr lang="en-US" sz="400" b="1" dirty="0">
              <a:latin typeface="Real Head Pro"/>
            </a:endParaRPr>
          </a:p>
          <a:p>
            <a:pPr marL="172800" indent="-172800">
              <a:buFont typeface="Arial" panose="020B0604020202020204" pitchFamily="34" charset="0"/>
              <a:buChar char="•"/>
            </a:pPr>
            <a:r>
              <a:rPr lang="en-US" sz="1400" dirty="0">
                <a:latin typeface="Real Head Pro"/>
              </a:rPr>
              <a:t>Northern locations form a wetter, distinct climate zone, while most southern locations share a drier weather profile.</a:t>
            </a:r>
          </a:p>
          <a:p>
            <a:endParaRPr lang="en-US" sz="1400" dirty="0">
              <a:latin typeface="Real Head Pro"/>
            </a:endParaRPr>
          </a:p>
          <a:p>
            <a:endParaRPr lang="en-IN" sz="1400" dirty="0">
              <a:latin typeface="Real Head Pr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580B76-FB9A-7672-11F6-0361B58BA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3" y="4128353"/>
            <a:ext cx="5191758" cy="2684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B3501A-939F-C266-7298-1D3C3CEFA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3" y="1439753"/>
            <a:ext cx="5191758" cy="259092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9AA176-788B-74CE-88B0-69F896F69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07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AC07-A4D0-D083-E8FF-D9A811FA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493E42-2546-4BA5-B923-A5213CC17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42" y="141322"/>
            <a:ext cx="8407505" cy="132556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/>
              <a:t>Overall Conclusions and Strategic Recommendations</a:t>
            </a:r>
            <a:endParaRPr lang="en-US" sz="3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12102E3-11EE-8D63-8B97-313520381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4639"/>
            <a:ext cx="9143999" cy="5293361"/>
          </a:xfrm>
        </p:spPr>
        <p:txBody>
          <a:bodyPr numCol="3">
            <a:normAutofit/>
          </a:bodyPr>
          <a:lstStyle/>
          <a:p>
            <a:pPr marL="0" indent="0">
              <a:buNone/>
            </a:pPr>
            <a:r>
              <a:rPr lang="en-IN" sz="1400" b="1" dirty="0">
                <a:solidFill>
                  <a:srgbClr val="D41B2C"/>
                </a:solidFill>
              </a:rPr>
              <a:t>Key Findings (Research Question 1)</a:t>
            </a:r>
          </a:p>
          <a:p>
            <a:r>
              <a:rPr lang="en-US" sz="1200" dirty="0"/>
              <a:t>High Humidity (9am &amp; 3pm) → More Rain</a:t>
            </a:r>
          </a:p>
          <a:p>
            <a:r>
              <a:rPr lang="en-US" sz="1200" dirty="0"/>
              <a:t>Low Pressure → More Rain</a:t>
            </a:r>
          </a:p>
          <a:p>
            <a:r>
              <a:rPr lang="en-US" sz="1200" dirty="0"/>
              <a:t>High Maximum Temperature → Less Rain</a:t>
            </a:r>
          </a:p>
          <a:p>
            <a:r>
              <a:rPr lang="en-US" sz="1200" dirty="0"/>
              <a:t>Strong Afternoon Temperature &amp; Pressure → Increase Rainfall</a:t>
            </a:r>
            <a:endParaRPr lang="en-IN" sz="1200" dirty="0"/>
          </a:p>
          <a:p>
            <a:pPr marL="0" indent="0">
              <a:buNone/>
            </a:pPr>
            <a:r>
              <a:rPr lang="en-IN" sz="1400" b="1" dirty="0">
                <a:solidFill>
                  <a:srgbClr val="D41B2C"/>
                </a:solidFill>
              </a:rPr>
              <a:t>Recommendations (Research Question 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Monitor humidity and pressure daily to anticipate rainfall events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Track maximum temperature trends to identify early drought conditions</a:t>
            </a:r>
            <a:endParaRPr lang="en-IN" sz="1200" dirty="0"/>
          </a:p>
          <a:p>
            <a:pPr marL="342891" lvl="1" indent="0">
              <a:buNone/>
            </a:pPr>
            <a:endParaRPr lang="en-IN" sz="1200" dirty="0"/>
          </a:p>
          <a:p>
            <a:pPr marL="342891" lvl="1" indent="0">
              <a:buNone/>
            </a:pPr>
            <a:endParaRPr lang="en-IN" sz="1200" dirty="0"/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r>
              <a:rPr lang="en-IN" sz="1400" b="1" dirty="0">
                <a:solidFill>
                  <a:srgbClr val="D41B2C"/>
                </a:solidFill>
              </a:rPr>
              <a:t>Key Findings (Research Question 2)</a:t>
            </a:r>
          </a:p>
          <a:p>
            <a:pPr lvl="1"/>
            <a:r>
              <a:rPr lang="en-IN" sz="1200" dirty="0"/>
              <a:t>Strong Overall Performance → 84.9% accuracy, AUC 0.865</a:t>
            </a:r>
          </a:p>
          <a:p>
            <a:pPr lvl="1"/>
            <a:r>
              <a:rPr lang="en-IN" sz="1200" dirty="0"/>
              <a:t>Very Reliable for No Rain → 94.9% specificity</a:t>
            </a:r>
          </a:p>
          <a:p>
            <a:pPr lvl="1"/>
            <a:r>
              <a:rPr lang="en-IN" sz="1200" dirty="0"/>
              <a:t>Moderate Rain Detection → 49.2% recall</a:t>
            </a:r>
          </a:p>
          <a:p>
            <a:pPr lvl="1"/>
            <a:r>
              <a:rPr lang="en-IN" sz="1200" dirty="0"/>
              <a:t>Pressure (9am ↑, 3pm ↓) → Strongest driver</a:t>
            </a:r>
          </a:p>
          <a:p>
            <a:pPr lvl="1"/>
            <a:r>
              <a:rPr lang="en-IN" sz="1200" dirty="0"/>
              <a:t>Wind Gusts &amp; Humidity (3pm) → Increase rain</a:t>
            </a:r>
          </a:p>
          <a:p>
            <a:pPr lvl="1"/>
            <a:r>
              <a:rPr lang="en-IN" sz="1200" dirty="0"/>
              <a:t>Higher Maximum Temperature → Decreases rain</a:t>
            </a:r>
          </a:p>
          <a:p>
            <a:pPr marL="342891" lvl="1" indent="0">
              <a:buNone/>
            </a:pPr>
            <a:r>
              <a:rPr lang="en-IN" sz="1400" b="1" dirty="0">
                <a:solidFill>
                  <a:srgbClr val="D41B2C"/>
                </a:solidFill>
              </a:rPr>
              <a:t>Recommendations (Research Question 2)</a:t>
            </a:r>
          </a:p>
          <a:p>
            <a:pPr lvl="1"/>
            <a:r>
              <a:rPr lang="en-US" sz="1200" dirty="0"/>
              <a:t>Monitor morning &amp; afternoon pressure daily</a:t>
            </a:r>
          </a:p>
          <a:p>
            <a:pPr lvl="1"/>
            <a:r>
              <a:rPr lang="en-US" sz="1200" dirty="0"/>
              <a:t>Track wind gusts and afternoon humidity</a:t>
            </a: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r>
              <a:rPr lang="en-IN" sz="1400" b="1" dirty="0">
                <a:solidFill>
                  <a:srgbClr val="D41B2C"/>
                </a:solidFill>
              </a:rPr>
              <a:t>Key Findings (Research Question 3)</a:t>
            </a:r>
          </a:p>
          <a:p>
            <a:pPr lvl="1"/>
            <a:r>
              <a:rPr lang="en-US" sz="1200" dirty="0"/>
              <a:t>Two Distinct Climate Clusters Identified (k = 2)</a:t>
            </a:r>
          </a:p>
          <a:p>
            <a:pPr lvl="1"/>
            <a:r>
              <a:rPr lang="en-US" sz="1200" dirty="0"/>
              <a:t>Cluster 1 (40 locations) → Lower average rainfall</a:t>
            </a:r>
          </a:p>
          <a:p>
            <a:pPr lvl="1"/>
            <a:r>
              <a:rPr lang="en-US" sz="1200" dirty="0"/>
              <a:t>Cluster 2 (4 locations) → Significantly higher rainfall (~2×)</a:t>
            </a:r>
          </a:p>
          <a:p>
            <a:pPr lvl="1"/>
            <a:r>
              <a:rPr lang="en-US" sz="1200" dirty="0"/>
              <a:t>Clear North-South climatic separation</a:t>
            </a:r>
            <a:endParaRPr lang="en-IN" sz="1200" dirty="0"/>
          </a:p>
          <a:p>
            <a:pPr marL="342891" lvl="1" indent="0">
              <a:buNone/>
            </a:pPr>
            <a:r>
              <a:rPr lang="en-IN" sz="1400" b="1" dirty="0">
                <a:solidFill>
                  <a:srgbClr val="D41B2C"/>
                </a:solidFill>
              </a:rPr>
              <a:t>Recommendations (Research Question 3)</a:t>
            </a:r>
          </a:p>
          <a:p>
            <a:pPr lvl="1"/>
            <a:r>
              <a:rPr lang="en-US" sz="1200" dirty="0"/>
              <a:t>Develop region-specific water management and infrastructure plans using the climate clusters</a:t>
            </a:r>
          </a:p>
          <a:p>
            <a:pPr lvl="1"/>
            <a:r>
              <a:rPr lang="en-US" sz="1200" dirty="0"/>
              <a:t>Prioritize rainfall monitoring in high-rainfall regions and strengthen drought planning in drier regions</a:t>
            </a: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b="1" dirty="0">
              <a:solidFill>
                <a:srgbClr val="D41B2C"/>
              </a:solidFill>
            </a:endParaRPr>
          </a:p>
          <a:p>
            <a:pPr marL="342891" lvl="1" indent="0">
              <a:buNone/>
            </a:pPr>
            <a:endParaRPr lang="en-IN" sz="12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DA8C96-D847-C8B9-FAD8-402F10B10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42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F1FA1-B494-9D0D-C20D-CC5C3FBA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AC111-B2A0-48CB-3AE0-A7DB8B711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6754"/>
            <a:ext cx="7886700" cy="3622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[1] R Core Team. (2024). </a:t>
            </a:r>
            <a:r>
              <a:rPr lang="en-IN" sz="1400" i="1" dirty="0"/>
              <a:t>R: A language and environment for statistical computing.</a:t>
            </a:r>
            <a:r>
              <a:rPr lang="en-IN" sz="1400" dirty="0"/>
              <a:t> R Foundation for Statistical Computing. </a:t>
            </a:r>
            <a:r>
              <a:rPr lang="en-IN" sz="1400" u="sng" dirty="0">
                <a:hlinkClick r:id="rId3"/>
              </a:rPr>
              <a:t>https://cran.r-project.org</a:t>
            </a:r>
            <a:endParaRPr lang="en-IN" sz="1400" u="sng" dirty="0"/>
          </a:p>
          <a:p>
            <a:pPr marL="0" indent="0">
              <a:buNone/>
            </a:pPr>
            <a:endParaRPr lang="en-IN" sz="400" dirty="0"/>
          </a:p>
          <a:p>
            <a:pPr marL="0" indent="0">
              <a:buNone/>
            </a:pPr>
            <a:r>
              <a:rPr lang="en-IN" sz="1400" dirty="0"/>
              <a:t>[2] RStudio Team. (2024). </a:t>
            </a:r>
            <a:r>
              <a:rPr lang="en-IN" sz="1400" i="1" dirty="0"/>
              <a:t>RStudio: Integrated Development Environment for R</a:t>
            </a:r>
            <a:r>
              <a:rPr lang="en-IN" sz="1400" dirty="0"/>
              <a:t> [Computer software]. Posit Software, PBC. </a:t>
            </a:r>
            <a:r>
              <a:rPr lang="en-IN" sz="1400" u="sng" dirty="0">
                <a:hlinkClick r:id="rId4"/>
              </a:rPr>
              <a:t>https://posit.co</a:t>
            </a:r>
            <a:endParaRPr lang="en-IN" sz="1400" u="sng" dirty="0"/>
          </a:p>
          <a:p>
            <a:pPr marL="0" indent="0">
              <a:buNone/>
            </a:pPr>
            <a:endParaRPr lang="en-IN" sz="400" u="sng" dirty="0"/>
          </a:p>
          <a:p>
            <a:pPr marL="0" indent="0">
              <a:buNone/>
            </a:pPr>
            <a:r>
              <a:rPr lang="en-IN" sz="1400" dirty="0"/>
              <a:t>[3] Young, J., &amp; Young, A. (n.d.). </a:t>
            </a:r>
            <a:r>
              <a:rPr lang="en-IN" sz="1400" i="1" dirty="0"/>
              <a:t>Rain in Australia</a:t>
            </a:r>
            <a:r>
              <a:rPr lang="en-IN" sz="1400" dirty="0"/>
              <a:t> [Data set]. Kaggle. </a:t>
            </a:r>
            <a:r>
              <a:rPr lang="en-IN" sz="1400" u="sng" dirty="0">
                <a:hlinkClick r:id="rId5"/>
              </a:rPr>
              <a:t>https://www.kaggle.com/datasets/jsphyg/weather-dataset-rattle-package</a:t>
            </a:r>
            <a:endParaRPr lang="en-IN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1BE4E0-31DD-DED7-CF94-EF6FF838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47" y="239358"/>
            <a:ext cx="7578731" cy="1325563"/>
          </a:xfrm>
        </p:spPr>
        <p:txBody>
          <a:bodyPr>
            <a:normAutofit/>
          </a:bodyPr>
          <a:lstStyle/>
          <a:p>
            <a:pPr algn="ctr"/>
            <a:r>
              <a:rPr lang="en-CA" b="1" dirty="0"/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8EC99-D874-7EF0-8EA1-5175CF8F8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017B6-6466-CA44-A203-DCC007137B3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8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775A-4A21-3240-93BF-DBE4AF73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/>
              <a:t>Thank you! </a:t>
            </a:r>
            <a:br>
              <a:rPr lang="en-US" sz="6600" dirty="0"/>
            </a:br>
            <a:endParaRPr lang="en-US" sz="6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D86E09-0899-B1C5-77AE-CA3140B0E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90"/>
            <a:ext cx="2029521" cy="75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81841"/>
      </p:ext>
    </p:extLst>
  </p:cSld>
  <p:clrMapOvr>
    <a:masterClrMapping/>
  </p:clrMapOvr>
</p:sld>
</file>

<file path=ppt/theme/theme1.xml><?xml version="1.0" encoding="utf-8"?>
<a:theme xmlns:a="http://schemas.openxmlformats.org/drawingml/2006/main" name="Northeastern Brand Theme">
  <a:themeElements>
    <a:clrScheme name="Brand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2CBBAB"/>
      </a:accent1>
      <a:accent2>
        <a:srgbClr val="FDBB45"/>
      </a:accent2>
      <a:accent3>
        <a:srgbClr val="375575"/>
      </a:accent3>
      <a:accent4>
        <a:srgbClr val="F58155"/>
      </a:accent4>
      <a:accent5>
        <a:srgbClr val="5BC9E1"/>
      </a:accent5>
      <a:accent6>
        <a:srgbClr val="006DB7"/>
      </a:accent6>
      <a:hlink>
        <a:srgbClr val="D3192B"/>
      </a:hlink>
      <a:folHlink>
        <a:srgbClr val="DB192B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2C4460A-6710-1146-8863-0F9A6FDA9F11}" vid="{3C52ADA3-3064-4249-9D2B-2CA6EDD8E2BA}"/>
    </a:ext>
  </a:extLst>
</a:theme>
</file>

<file path=ppt/theme/theme2.xml><?xml version="1.0" encoding="utf-8"?>
<a:theme xmlns:a="http://schemas.openxmlformats.org/drawingml/2006/main" name="Northeastern Brand Theme - Neutral">
  <a:themeElements>
    <a:clrScheme name="Brand Neutral 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B192B"/>
      </a:accent1>
      <a:accent2>
        <a:srgbClr val="000000"/>
      </a:accent2>
      <a:accent3>
        <a:srgbClr val="99A3B0"/>
      </a:accent3>
      <a:accent4>
        <a:srgbClr val="A19993"/>
      </a:accent4>
      <a:accent5>
        <a:srgbClr val="E5D3AB"/>
      </a:accent5>
      <a:accent6>
        <a:srgbClr val="A38049"/>
      </a:accent6>
      <a:hlink>
        <a:srgbClr val="D3192B"/>
      </a:hlink>
      <a:folHlink>
        <a:srgbClr val="DB192B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2C4460A-6710-1146-8863-0F9A6FDA9F11}" vid="{3C52ADA3-3064-4249-9D2B-2CA6EDD8E2B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38DC331B4110429DAC49B881C6ED1A" ma:contentTypeVersion="2" ma:contentTypeDescription="Create a new document." ma:contentTypeScope="" ma:versionID="9dabe89f729aa3b3194e4f6acff9bad0">
  <xsd:schema xmlns:xsd="http://www.w3.org/2001/XMLSchema" xmlns:xs="http://www.w3.org/2001/XMLSchema" xmlns:p="http://schemas.microsoft.com/office/2006/metadata/properties" xmlns:ns2="ce131d18-73a7-4f4c-a92b-4485b7e8992b" targetNamespace="http://schemas.microsoft.com/office/2006/metadata/properties" ma:root="true" ma:fieldsID="1da4b852d312b86875fa68be81762f39" ns2:_="">
    <xsd:import namespace="ce131d18-73a7-4f4c-a92b-4485b7e89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131d18-73a7-4f4c-a92b-4485b7e89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EF6D474-9C4A-49C1-B8A0-7DE6D6C9120C}">
  <ds:schemaRefs>
    <ds:schemaRef ds:uri="ce131d18-73a7-4f4c-a92b-4485b7e899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914AFD-2560-4360-AF03-770A744EBEFD}">
  <ds:schemaRefs>
    <ds:schemaRef ds:uri="8fbe8394-ca95-49d0-9cb2-911613b253e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F86C7E4-23A5-430B-8F2D-449F7A20B4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1965</TotalTime>
  <Words>1340</Words>
  <Application>Microsoft Office PowerPoint</Application>
  <PresentationFormat>On-screen Show (4:3)</PresentationFormat>
  <Paragraphs>249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Helvetica</vt:lpstr>
      <vt:lpstr>Real Head Pro</vt:lpstr>
      <vt:lpstr>Real Text Pro</vt:lpstr>
      <vt:lpstr>Real Text Pro Demibold</vt:lpstr>
      <vt:lpstr>Wingdings</vt:lpstr>
      <vt:lpstr>Northeastern Brand Theme</vt:lpstr>
      <vt:lpstr>Northeastern Brand Theme - Neutral</vt:lpstr>
      <vt:lpstr>Weather Patterns, Rainfall Drivers, and Predictive Modelling in Australia</vt:lpstr>
      <vt:lpstr>Introduction</vt:lpstr>
      <vt:lpstr>Dataset Overview</vt:lpstr>
      <vt:lpstr>Research Questions</vt:lpstr>
      <vt:lpstr>Methods Overview</vt:lpstr>
      <vt:lpstr>Research Question 1: Which weather factors are most strongly linked to rainfall in Australia?</vt:lpstr>
      <vt:lpstr>Research Question 1: Which weather factors are most strongly linked to rainfall in Australia?</vt:lpstr>
      <vt:lpstr>Research Question 2: Can we predict whether it will rain tomorrow based on today’s weather conditions?</vt:lpstr>
      <vt:lpstr>Research Question 2: Can we predict whether it will rain tomorrow based on today’s weather conditions?</vt:lpstr>
      <vt:lpstr>Research Question 3: Which locations in Australia have similar weather patterns?</vt:lpstr>
      <vt:lpstr>Research Question 3: Which locations in Australia have similar weather patterns?</vt:lpstr>
      <vt:lpstr>Overall Conclusions and Strategic Recommendations</vt:lpstr>
      <vt:lpstr>References</vt:lpstr>
      <vt:lpstr>Thank you!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Title Here</dc:title>
  <dc:subject/>
  <dc:creator>Elliott, Emily</dc:creator>
  <cp:keywords/>
  <dc:description/>
  <cp:lastModifiedBy>Dhrumil Khalas</cp:lastModifiedBy>
  <cp:revision>84</cp:revision>
  <cp:lastPrinted>2019-03-27T19:18:08Z</cp:lastPrinted>
  <dcterms:created xsi:type="dcterms:W3CDTF">2019-07-11T18:23:01Z</dcterms:created>
  <dcterms:modified xsi:type="dcterms:W3CDTF">2026-07-14T02:24:10Z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0x010100A838DC331B4110429DAC49B881C6ED1A</vt:lpwstr>
  </property>
</Properties>
</file>